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6" r:id="rId2"/>
    <p:sldId id="257" r:id="rId3"/>
    <p:sldId id="258" r:id="rId4"/>
    <p:sldId id="272" r:id="rId5"/>
    <p:sldId id="260" r:id="rId6"/>
    <p:sldId id="264" r:id="rId7"/>
    <p:sldId id="273" r:id="rId8"/>
    <p:sldId id="276" r:id="rId9"/>
    <p:sldId id="262" r:id="rId10"/>
    <p:sldId id="271" r:id="rId11"/>
    <p:sldId id="277" r:id="rId12"/>
    <p:sldId id="266" r:id="rId13"/>
    <p:sldId id="274" r:id="rId14"/>
    <p:sldId id="278" r:id="rId15"/>
    <p:sldId id="275" r:id="rId16"/>
    <p:sldId id="279" r:id="rId17"/>
    <p:sldId id="267" r:id="rId18"/>
    <p:sldId id="268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1387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8196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18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383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734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322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93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226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907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240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94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2913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249584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312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6897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7449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8940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2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A4CA1-49D6-4E0F-BAF7-ABF261528C7D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6058CB-3D7C-440E-85CD-816FE9A00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0688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  <p:sldLayoutId id="2147483906" r:id="rId12"/>
    <p:sldLayoutId id="2147483907" r:id="rId13"/>
    <p:sldLayoutId id="2147483908" r:id="rId14"/>
    <p:sldLayoutId id="2147483909" r:id="rId15"/>
    <p:sldLayoutId id="2147483910" r:id="rId16"/>
    <p:sldLayoutId id="214748391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513DE-2BAA-7656-09A6-9E8A945794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3804" y="5844745"/>
            <a:ext cx="3245709" cy="827903"/>
          </a:xfrm>
        </p:spPr>
        <p:txBody>
          <a:bodyPr>
            <a:noAutofit/>
          </a:bodyPr>
          <a:lstStyle/>
          <a:p>
            <a:pPr marL="342900" indent="-342900" algn="l">
              <a:lnSpc>
                <a:spcPct val="107000"/>
              </a:lnSpc>
              <a:spcAft>
                <a:spcPts val="800"/>
              </a:spcAft>
            </a:pPr>
            <a:b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en-IN" sz="20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000" b="1" kern="100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Omkar Rajendra Patil</a:t>
            </a:r>
            <a:br>
              <a:rPr lang="en-IN" sz="2000" b="1" kern="100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2000" b="1" kern="100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232010045</a:t>
            </a:r>
            <a:endParaRPr lang="en-IN" sz="2000" b="1" dirty="0">
              <a:solidFill>
                <a:schemeClr val="bg1"/>
              </a:solidFill>
              <a:effectLst/>
              <a:highlight>
                <a:srgbClr val="00FFFF"/>
              </a:highlight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BC67B-278B-CC3B-773D-33D36114F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5008" y="296562"/>
            <a:ext cx="9281984" cy="1136821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40000" lnSpcReduction="20000"/>
          </a:bodyPr>
          <a:lstStyle/>
          <a:p>
            <a:br>
              <a:rPr lang="en-IN" kern="100" dirty="0">
                <a:solidFill>
                  <a:schemeClr val="accent5"/>
                </a:solidFill>
                <a:effectLst/>
                <a:highlight>
                  <a:srgbClr val="80808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7000" b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Heart Disease Prediction Using Machine learning : </a:t>
            </a:r>
            <a:br>
              <a:rPr lang="en-IN" sz="7000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7000" b="1" kern="1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Data-Driven Approach</a:t>
            </a:r>
            <a:endParaRPr lang="en-IN" sz="6700" dirty="0">
              <a:solidFill>
                <a:schemeClr val="bg1"/>
              </a:solidFill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0CCDDF-A039-A947-86A1-8FC7A975D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347" y="1602512"/>
            <a:ext cx="8763004" cy="4073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0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8F554-99D6-9E85-68A1-A5DF0674F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1677" y="295379"/>
            <a:ext cx="4658496" cy="631378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chemeClr val="bg1"/>
                </a:solidFill>
                <a:effectLst/>
                <a:latin typeface="+mn-lt"/>
              </a:rPr>
              <a:t>(1)Introduction</a:t>
            </a:r>
            <a:endParaRPr lang="en-IN" sz="3200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DFD4E31-C789-D54B-2640-DD128B326F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061499"/>
            <a:ext cx="10303933" cy="5490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ea typeface="Calibri" panose="020F0502020204030204" pitchFamily="34" charset="0"/>
                <a:cs typeface="Calibri" panose="020F0502020204030204" pitchFamily="34" charset="0"/>
              </a:rPr>
              <a:t>1)Heart Disease   </a:t>
            </a:r>
          </a:p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1)Heart disease is one of the main causes of death around the world. 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2)According to the World Health Organization (WHO), about 17 million people die each year from heart-related diseases</a:t>
            </a:r>
            <a:endParaRPr lang="en-US" sz="1600" dirty="0"/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2)Importance of Early Detection</a:t>
            </a:r>
            <a:r>
              <a:rPr lang="en-US" sz="1600" b="1" dirty="0">
                <a:effectLst/>
                <a:highlight>
                  <a:srgbClr val="00FFFF"/>
                </a:highlight>
              </a:rPr>
              <a:t>:</a:t>
            </a:r>
            <a:r>
              <a:rPr lang="en-US" sz="1600" dirty="0">
                <a:effectLst/>
                <a:highlight>
                  <a:srgbClr val="00FFFF"/>
                </a:highlight>
              </a:rPr>
              <a:t> </a:t>
            </a:r>
          </a:p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1)The number of people getting heart disease is rapidly  growing because of factors like getting older, eating unhealthy food, obesity, smoking, and high blood pressure</a:t>
            </a: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2)As heart disease continues to increase, it’s very important to detect it early and predict it correctly to help reduce the number of deaths and improve patient care.</a:t>
            </a:r>
            <a:endParaRPr lang="en-US" sz="1600" dirty="0">
              <a:highlight>
                <a:srgbClr val="00FFFF"/>
              </a:highlight>
            </a:endParaRP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3)Machine Learning (ML):</a:t>
            </a:r>
            <a:r>
              <a:rPr lang="en-US" sz="1600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   </a:t>
            </a:r>
          </a:p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1)In the past, diagnosing heart disease required tests like angiography, which are expensive and need skilled doctors to interpret the results. </a:t>
            </a:r>
          </a:p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2)But machine learning (ML) provides a simple way to predict heart disease early by </a:t>
            </a:r>
            <a:r>
              <a:rPr lang="en-IN" sz="1600" dirty="0" err="1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analyzing</a:t>
            </a: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 large amounts of data.</a:t>
            </a:r>
            <a:endParaRPr lang="en-US" sz="1600" dirty="0">
              <a:solidFill>
                <a:schemeClr val="bg1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947065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BBA50-67E0-5EAB-6EB6-EF78A329F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3840" y="512131"/>
            <a:ext cx="6091880" cy="679621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bg1"/>
                </a:solidFill>
                <a:effectLst/>
                <a:latin typeface="+mn-lt"/>
              </a:rPr>
              <a:t>2)Problem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46D48A-91E9-1F3C-08C0-ABFB305380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9049" y="1688184"/>
            <a:ext cx="9959546" cy="4657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1)Traditional Methods Have Limitations</a:t>
            </a:r>
          </a:p>
          <a:p>
            <a:pPr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 methods sometimes give late or wrong results, which can delay heart disease treatment.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2)Imbalanced Data Affects Predictions</a:t>
            </a:r>
          </a:p>
          <a:p>
            <a:pPr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the data has more healthy people, the system may wrongly say a sick person is healthy.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3)Missing Information in Healthcare Data</a:t>
            </a:r>
          </a:p>
          <a:p>
            <a:pPr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test details or patient history can lead to wrong treatment or poor predictions.</a:t>
            </a:r>
          </a:p>
          <a:p>
            <a:pPr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4)Complexity of Heart Diseases</a:t>
            </a:r>
          </a:p>
          <a:p>
            <a:pPr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Heart diseases depend on many factors, which makes it hard for doctors to diagnose correctly.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5)Need for New Data-Driven Methods</a:t>
            </a:r>
            <a:b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smarter tools like machine learning to support doctors and improve decisions.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22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B6BA9-5B0C-D9A7-ADDC-DA40113A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465" y="383060"/>
            <a:ext cx="7983070" cy="654908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l"/>
            <a:r>
              <a:rPr lang="en-IN" dirty="0">
                <a:solidFill>
                  <a:schemeClr val="bg1"/>
                </a:solidFill>
                <a:effectLst/>
              </a:rPr>
              <a:t>(3)Overview of Heart </a:t>
            </a:r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Disease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651C3-E591-D0D0-BD33-B626D47C5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38491"/>
            <a:ext cx="10353762" cy="469932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en-US" b="1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(1)Causes of Heart Disease</a:t>
            </a:r>
          </a:p>
          <a:p>
            <a:pPr marL="0" indent="0">
              <a:buNone/>
            </a:pPr>
            <a:r>
              <a:rPr lang="en-US" b="1" dirty="0"/>
              <a:t>1)High Blood Pressure</a:t>
            </a:r>
            <a:r>
              <a:rPr lang="en-US" dirty="0"/>
              <a:t> – When your blood moves through your body with too much force, it can damage your heart.</a:t>
            </a:r>
          </a:p>
          <a:p>
            <a:pPr marL="0" indent="0">
              <a:buNone/>
            </a:pPr>
            <a:r>
              <a:rPr lang="en-US" b="1" dirty="0"/>
              <a:t>2)High Cholesterol</a:t>
            </a:r>
            <a:r>
              <a:rPr lang="en-US" dirty="0"/>
              <a:t> – Too much fat in your blood can block your heart’s blood vessels.</a:t>
            </a:r>
          </a:p>
          <a:p>
            <a:pPr marL="0" indent="0">
              <a:buNone/>
            </a:pPr>
            <a:r>
              <a:rPr lang="en-US" b="1" dirty="0"/>
              <a:t>3)Chest Pain (Angina)</a:t>
            </a:r>
            <a:r>
              <a:rPr lang="en-US" dirty="0"/>
              <a:t> – This happens when your heart doesn’t get enough blood.</a:t>
            </a:r>
          </a:p>
          <a:p>
            <a:pPr marL="0" indent="0">
              <a:buNone/>
            </a:pPr>
            <a:r>
              <a:rPr lang="en-US" b="1" dirty="0"/>
              <a:t>4)Unhealthy Habits</a:t>
            </a:r>
            <a:r>
              <a:rPr lang="en-US" dirty="0"/>
              <a:t> – Eating junk food, smoking, or not exercising can make heart problems worse.</a:t>
            </a:r>
          </a:p>
          <a:p>
            <a:endParaRPr lang="en-US" b="1" dirty="0"/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2)Risk Factors </a:t>
            </a:r>
          </a:p>
          <a:p>
            <a:pPr marL="0" indent="0">
              <a:buNone/>
            </a:pPr>
            <a:r>
              <a:rPr lang="en-US" b="1" dirty="0"/>
              <a:t>1)Age</a:t>
            </a:r>
            <a:r>
              <a:rPr lang="en-US" dirty="0"/>
              <a:t> – Older people are at higher risk.</a:t>
            </a:r>
          </a:p>
          <a:p>
            <a:pPr marL="0" indent="0">
              <a:buNone/>
            </a:pPr>
            <a:r>
              <a:rPr lang="en-US" b="1" dirty="0"/>
              <a:t>2)Gender</a:t>
            </a:r>
            <a:r>
              <a:rPr lang="en-US" dirty="0"/>
              <a:t> – Men are more likely to get heart disease earlier than women.</a:t>
            </a:r>
          </a:p>
          <a:p>
            <a:pPr marL="0" indent="0">
              <a:buNone/>
            </a:pPr>
            <a:r>
              <a:rPr lang="en-US" b="1" dirty="0"/>
              <a:t>3)Family History</a:t>
            </a:r>
            <a:r>
              <a:rPr lang="en-US" dirty="0"/>
              <a:t> – If your parents or grandparents had heart problems, you may be at higher risk.</a:t>
            </a:r>
          </a:p>
          <a:p>
            <a:pPr marL="0" indent="0">
              <a:buNone/>
            </a:pPr>
            <a:r>
              <a:rPr lang="en-US" b="1" dirty="0"/>
              <a:t>4)Lifestyle</a:t>
            </a:r>
            <a:r>
              <a:rPr lang="en-US" dirty="0"/>
              <a:t> – Eating too much unhealthy food, not exercising, or being stressed can increase the risk.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4515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DF31B-31E7-A74A-232C-AEBDED04A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1815" y="247136"/>
            <a:ext cx="8715633" cy="654908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effectLst/>
                <a:latin typeface="+mn-lt"/>
              </a:rPr>
              <a:t>(4)Cleveland Heart Disease Dataset</a:t>
            </a:r>
            <a:endParaRPr lang="en-IN" sz="3200" b="0" dirty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5ADCF-04BE-69F3-32EF-84D67250E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02327"/>
            <a:ext cx="5182206" cy="5000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1)The Cleveland Heart Disease Dataset is commonly used in heart disease research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2)It contains data from 920 patients with 76 features. </a:t>
            </a: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3)Many studies focus only on 14 important features that are most useful for predicting heart disease. </a:t>
            </a: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4)These features include age, gender, cholesterol levels, blood pressure, maximum heart rate, and exercise-induced chest pain etc.</a:t>
            </a: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5)These factors give us valuable information about heart health and improve the accuracy of machine learning models.</a:t>
            </a:r>
          </a:p>
          <a:p>
            <a:pPr marL="0" indent="0">
              <a:buNone/>
            </a:pPr>
            <a:r>
              <a:rPr lang="en-IN" sz="1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6)By studying these factors, doctors can identify people who are at high risk and create better prevention plans.</a:t>
            </a:r>
            <a:endParaRPr lang="en-IN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10D3D63E-F004-03AE-0D3A-A00A290CD2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86" r="2148" b="5161"/>
          <a:stretch/>
        </p:blipFill>
        <p:spPr bwMode="auto">
          <a:xfrm>
            <a:off x="6334900" y="1248949"/>
            <a:ext cx="5062756" cy="4360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0086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3EF0D-4840-466D-042F-4DB002A5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4086" y="347398"/>
            <a:ext cx="6623827" cy="628785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5)Why Preprocess the Data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AF05E8A-4C76-4A2D-B78E-51B53BAECE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8004" y="1443841"/>
            <a:ext cx="1047955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1)Removes Errors: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helps fix wrong or missing values in the data.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2)Improves Accuracy: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organized data helps the model make better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FFFF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3)Speeds Up Training: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Properly prepared data allows the model to learn faster.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4)Balances Data: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 ensures no feature (like age or salary) dominates the results.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highlight>
                <a:srgbClr val="00FFFF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5)Reduces Noise: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removes useless or extra information that can confuse the model. </a:t>
            </a:r>
          </a:p>
        </p:txBody>
      </p:sp>
    </p:spTree>
    <p:extLst>
      <p:ext uri="{BB962C8B-B14F-4D97-AF65-F5344CB8AC3E}">
        <p14:creationId xmlns:p14="http://schemas.microsoft.com/office/powerpoint/2010/main" val="4224034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2ECB-F966-2252-2978-13C2D220E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2953" y="376176"/>
            <a:ext cx="4947199" cy="667267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6)Data Preprocessing</a:t>
            </a:r>
            <a:br>
              <a:rPr lang="en-IN" sz="320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41F00-B476-A25F-86EE-464705B0C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428" y="1107916"/>
            <a:ext cx="10353762" cy="537390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1)Handling Missing Data:</a:t>
            </a:r>
            <a:r>
              <a:rPr lang="en-US" sz="1600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600" dirty="0"/>
              <a:t>1)</a:t>
            </a:r>
            <a:r>
              <a:rPr lang="en-US" sz="1600" dirty="0" err="1"/>
              <a:t>SimpleImputer</a:t>
            </a:r>
            <a:r>
              <a:rPr lang="en-US" sz="1600" dirty="0"/>
              <a:t>: Fills missing values with the </a:t>
            </a:r>
            <a:r>
              <a:rPr lang="en-US" sz="1600" b="1" dirty="0"/>
              <a:t>average (mean)</a:t>
            </a:r>
            <a:r>
              <a:rPr lang="en-US" sz="1600" dirty="0"/>
              <a:t>, </a:t>
            </a:r>
            <a:r>
              <a:rPr lang="en-US" sz="1600" b="1" dirty="0"/>
              <a:t>most common value</a:t>
            </a:r>
            <a:r>
              <a:rPr lang="en-US" sz="1600" dirty="0"/>
              <a:t>, or </a:t>
            </a:r>
            <a:r>
              <a:rPr lang="en-US" sz="1600" b="1" dirty="0"/>
              <a:t>zero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r>
              <a:rPr lang="en-US" sz="1600" dirty="0"/>
              <a:t>2)</a:t>
            </a:r>
            <a:r>
              <a:rPr lang="en-US" sz="1600" dirty="0" err="1"/>
              <a:t>KNNImputer</a:t>
            </a:r>
            <a:r>
              <a:rPr lang="en-US" sz="1600" dirty="0"/>
              <a:t>: Looks at similar data points (neighbors) and guesses the missing value based on them.</a:t>
            </a:r>
          </a:p>
          <a:p>
            <a:pPr marL="0" indent="0">
              <a:buNone/>
            </a:pPr>
            <a:endParaRPr lang="en-US" sz="1600" b="1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2)Feature Scaling:</a:t>
            </a:r>
            <a:r>
              <a:rPr lang="en-US" sz="1600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600" b="1" dirty="0"/>
              <a:t>1)Height</a:t>
            </a:r>
            <a:r>
              <a:rPr lang="en-US" sz="1600" dirty="0"/>
              <a:t> may be in centimeters (like 170 cm).</a:t>
            </a:r>
            <a:endParaRPr lang="en-US" sz="1600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b="1" dirty="0"/>
              <a:t>2)Weight</a:t>
            </a:r>
            <a:r>
              <a:rPr lang="en-US" sz="1600" dirty="0"/>
              <a:t> may be in kilograms (like 65 kg).</a:t>
            </a:r>
            <a:endParaRPr lang="en-US" sz="1600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dirty="0"/>
              <a:t>3)This adjusts all values to a similar range, ensuring fair comparisons.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3)</a:t>
            </a:r>
            <a:r>
              <a:rPr lang="en-US" sz="16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Data Cleaning:</a:t>
            </a:r>
            <a:r>
              <a:rPr lang="en-US" sz="1600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 </a:t>
            </a:r>
          </a:p>
          <a:p>
            <a:pPr marL="0" indent="0">
              <a:buNone/>
            </a:pPr>
            <a:r>
              <a:rPr lang="en-US" sz="1600" b="1" dirty="0"/>
              <a:t>1)Incorrect entries</a:t>
            </a:r>
            <a:r>
              <a:rPr lang="en-US" sz="1600" dirty="0"/>
              <a:t> (e.g., someone’s age recorded as 200 years).</a:t>
            </a:r>
          </a:p>
          <a:p>
            <a:pPr marL="0" indent="0">
              <a:buNone/>
            </a:pPr>
            <a:r>
              <a:rPr lang="en-US" sz="1600" b="1" dirty="0"/>
              <a:t>2)Duplicate records</a:t>
            </a:r>
            <a:r>
              <a:rPr lang="en-US" sz="1600" dirty="0"/>
              <a:t> (e.g., the same student’s data appearing twice)</a:t>
            </a:r>
          </a:p>
          <a:p>
            <a:pPr marL="0" indent="0">
              <a:buNone/>
            </a:pPr>
            <a:r>
              <a:rPr lang="en-US" sz="1600" dirty="0"/>
              <a:t>3)Ensuring the dataset is ready for accurate predictions.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74514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474D77-8BA5-0AB8-461C-6E499493A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643449"/>
            <a:ext cx="9823450" cy="480677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F39C104-17EC-5288-8126-B402EEC5F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09600"/>
            <a:ext cx="9823450" cy="687388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br>
              <a:rPr lang="en-IN" sz="320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7)Data Preprocessing </a:t>
            </a:r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Work flow diagram</a:t>
            </a:r>
            <a:br>
              <a:rPr lang="en-IN" sz="320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7713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26773-B681-E77A-C0AF-030A59AEA3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87" y="1219229"/>
            <a:ext cx="10353762" cy="528042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b="1" dirty="0">
              <a:solidFill>
                <a:schemeClr val="bg1"/>
              </a:solidFill>
              <a:effectLst/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1)Random Forest:</a:t>
            </a:r>
            <a:r>
              <a:rPr lang="en-IN" sz="1800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</a:t>
            </a:r>
            <a:r>
              <a:rPr lang="en-US" sz="18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model u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ses decision trees to make predictions. 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2)This model was good at making predictions without overfitting. </a:t>
            </a:r>
          </a:p>
          <a:p>
            <a:pPr marL="0" indent="0"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3)This means it gave stable results, even when tested with new data. </a:t>
            </a:r>
          </a:p>
          <a:p>
            <a:pPr marL="0" indent="0"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4)The model’s 84% accuracy shows it can predict well, even for data it has never seen before. </a:t>
            </a:r>
          </a:p>
          <a:p>
            <a:pPr marL="0" indent="0"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5)This model is great when you want reliability and simplicity over super-high accuracy.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>
              <a:solidFill>
                <a:schemeClr val="bg1"/>
              </a:solidFill>
              <a:highlight>
                <a:srgbClr val="00FFFF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EA8A6B5-1E6E-2ED4-4E33-85356DA68AE2}"/>
              </a:ext>
            </a:extLst>
          </p:cNvPr>
          <p:cNvSpPr txBox="1">
            <a:spLocks/>
          </p:cNvSpPr>
          <p:nvPr/>
        </p:nvSpPr>
        <p:spPr>
          <a:xfrm>
            <a:off x="1914694" y="271847"/>
            <a:ext cx="8637978" cy="716693"/>
          </a:xfrm>
          <a:prstGeom prst="rect">
            <a:avLst/>
          </a:prstGeo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(8)</a:t>
            </a:r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Model Selection and Training</a:t>
            </a:r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(1)</a:t>
            </a:r>
            <a:endParaRPr lang="en-IN" sz="3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1700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218B-579C-68D0-C51F-9AAB058B4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694" y="271847"/>
            <a:ext cx="8279630" cy="716693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(9)</a:t>
            </a:r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Model Selection and Training</a:t>
            </a:r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(2)</a:t>
            </a:r>
            <a:endParaRPr lang="en-IN" sz="3200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F6A69-E348-A4D2-569E-07C63B33A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7871" y="1243943"/>
            <a:ext cx="10353762" cy="3909320"/>
          </a:xfrm>
        </p:spPr>
        <p:txBody>
          <a:bodyPr/>
          <a:lstStyle/>
          <a:p>
            <a:pPr marL="0" indent="0">
              <a:buNone/>
            </a:pPr>
            <a:endParaRPr lang="en-IN" b="1" dirty="0">
              <a:solidFill>
                <a:schemeClr val="bg1"/>
              </a:solidFill>
              <a:effectLst/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IN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1)XGB</a:t>
            </a:r>
            <a:r>
              <a:rPr lang="en-IN" sz="20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IN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Classifier</a:t>
            </a:r>
            <a:r>
              <a:rPr lang="en-IN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 :</a:t>
            </a:r>
            <a:r>
              <a:rPr lang="en-IN" sz="1800" b="1" dirty="0">
                <a:solidFill>
                  <a:schemeClr val="bg1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1)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model uses gradient boosting to improve accuracy. 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2)The XGB Classifier did slightly better than the Random Forest model, with 86% accuracy.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3)It was better at finding more complex patterns in the data. </a:t>
            </a:r>
          </a:p>
          <a:p>
            <a:pPr marL="0" indent="0">
              <a:buNone/>
            </a:pPr>
            <a:r>
              <a:rPr lang="en-IN" sz="20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4)This made it a good choice when we wanted the model to be as accurate as possible. </a:t>
            </a:r>
          </a:p>
          <a:p>
            <a:pPr marL="0" indent="0">
              <a:buNone/>
            </a:pPr>
            <a:r>
              <a:rPr lang="en-IN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5)especially when the patterns in the data are complicated.</a:t>
            </a:r>
            <a:endParaRPr lang="en-IN" sz="20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305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0682F6-A358-E6FA-D589-2F01F249F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2368" y="1556951"/>
            <a:ext cx="8587946" cy="499213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FC26A4F7-52E9-380A-6782-A0B1BB5D90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83956" y="308919"/>
            <a:ext cx="9774195" cy="972065"/>
          </a:xfrm>
          <a:prstGeom prst="rect">
            <a:avLst/>
          </a:prstGeo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(10)</a:t>
            </a:r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Model Selection and Training Work flow diagram</a:t>
            </a:r>
            <a:endParaRPr lang="en-IN" sz="3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6344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1C164-8338-A3C9-FCE7-18FF8D4BC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5642" y="395415"/>
            <a:ext cx="5914217" cy="642553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11</a:t>
            </a:r>
            <a:r>
              <a:rPr lang="en-US" sz="3200" b="1" dirty="0">
                <a:solidFill>
                  <a:schemeClr val="bg1"/>
                </a:solidFill>
                <a:effectLst/>
                <a:latin typeface="+mn-lt"/>
              </a:rPr>
              <a:t>)Model Evaluation(1)</a:t>
            </a:r>
            <a:endParaRPr lang="en-IN" sz="3200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AC36F-0F4E-E1BF-3457-E0D53DE92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70088"/>
            <a:ext cx="10353762" cy="489504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1)Accuracy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Accuracy tells us how many predictions were correct out of all the predictions made.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2)If a model predicts 100 test cases, and 90 of them are correct, the accuracy is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90%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3)Higher accuracy = Better model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(in simple cases).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2)Precision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Precision shows how many of the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positive predictions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were actually correct.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2)Imagine a heart disease detection model predicted 10 people have heart disease, but only 8 of them were true cases.</a:t>
            </a:r>
          </a:p>
          <a:p>
            <a:pPr marL="0" indent="0">
              <a:buNone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3)Precision =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8/10 = 0.8 (or 80%)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4)Higher precision = Fewer false alarms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pPr marL="0" indent="0">
              <a:buNone/>
            </a:pP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00FFFF"/>
              </a:highlight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FFFF"/>
                </a:highlight>
              </a:rPr>
              <a:t>3)Recall (Sensitivity)</a:t>
            </a: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1)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Recall shows how well the model finds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actual positive cases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(e.g., actual heart disease patients).</a:t>
            </a:r>
            <a:b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2)If there are 20 real heart disease cases and the model found 18 of them, recall = 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18/20 = 0.9 (or 90%)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3)Higher recall = Fewer missed cases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8825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1E7DA-3603-0D49-4CF1-13182C932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1606" y="201282"/>
            <a:ext cx="6098189" cy="663691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12</a:t>
            </a:r>
            <a:r>
              <a:rPr lang="en-US" sz="3200" b="1" dirty="0">
                <a:solidFill>
                  <a:schemeClr val="bg1"/>
                </a:solidFill>
                <a:effectLst/>
                <a:latin typeface="+mn-lt"/>
              </a:rPr>
              <a:t>)Model Evaluation(2)</a:t>
            </a:r>
            <a:endParaRPr lang="en-IN" sz="3200" dirty="0">
              <a:effectLst/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8C02E-36C9-0DCE-5A81-13F4F3B1C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011" y="998839"/>
            <a:ext cx="10353762" cy="48603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4)F1-Score</a:t>
            </a:r>
          </a:p>
          <a:p>
            <a:pPr marL="0" indent="0">
              <a:buNone/>
            </a:pPr>
            <a:r>
              <a:rPr lang="en-US" dirty="0"/>
              <a:t>1)F1-Score is a balance between </a:t>
            </a:r>
            <a:r>
              <a:rPr lang="en-US" b="1" dirty="0"/>
              <a:t>precision</a:t>
            </a:r>
            <a:r>
              <a:rPr lang="en-US" dirty="0"/>
              <a:t> and </a:t>
            </a:r>
            <a:r>
              <a:rPr lang="en-US" b="1" dirty="0"/>
              <a:t>recall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2)It’s useful when both precision and recall are important.</a:t>
            </a:r>
          </a:p>
          <a:p>
            <a:pPr marL="0" indent="0">
              <a:buNone/>
            </a:pPr>
            <a:r>
              <a:rPr lang="en-US" b="1" dirty="0"/>
              <a:t>3)Higher F1-Score = Better overall performance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effectLst/>
                <a:highlight>
                  <a:srgbClr val="00FFFF"/>
                </a:highlight>
              </a:rPr>
              <a:t>5)Confusion Matrix</a:t>
            </a:r>
          </a:p>
          <a:p>
            <a:pPr marL="0" indent="0">
              <a:buNone/>
            </a:pPr>
            <a:r>
              <a:rPr lang="en-US" b="1" dirty="0"/>
              <a:t>1)True Positives (TP):</a:t>
            </a:r>
            <a:r>
              <a:rPr lang="en-US" dirty="0"/>
              <a:t> Correctly predicted positive cases.</a:t>
            </a:r>
          </a:p>
          <a:p>
            <a:pPr marL="0" indent="0">
              <a:buNone/>
            </a:pPr>
            <a:r>
              <a:rPr lang="en-US" b="1" dirty="0"/>
              <a:t>2)True Negatives (TN):</a:t>
            </a:r>
            <a:r>
              <a:rPr lang="en-US" dirty="0"/>
              <a:t> Correctly predicted negative cases.</a:t>
            </a:r>
          </a:p>
          <a:p>
            <a:pPr marL="0" indent="0">
              <a:buNone/>
            </a:pPr>
            <a:r>
              <a:rPr lang="en-US" b="1" dirty="0"/>
              <a:t>3)False Positives (FP):</a:t>
            </a:r>
            <a:r>
              <a:rPr lang="en-US" dirty="0"/>
              <a:t> Incorrectly predicted positive cases.</a:t>
            </a:r>
          </a:p>
          <a:p>
            <a:pPr marL="0" indent="0">
              <a:buNone/>
            </a:pPr>
            <a:r>
              <a:rPr lang="en-US" b="1" dirty="0"/>
              <a:t>4)False Negatives (FN):</a:t>
            </a:r>
            <a:r>
              <a:rPr lang="en-US" dirty="0"/>
              <a:t> Missed positive cases.</a:t>
            </a:r>
          </a:p>
          <a:p>
            <a:pPr marL="0" indent="0">
              <a:buNone/>
            </a:pPr>
            <a:r>
              <a:rPr lang="en-US" dirty="0"/>
              <a:t>5)The confusion matrix helps you understand exactly where the model is making mistakes.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9711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F897B77-C746-F695-C335-63B9FC3178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60140" y="1477662"/>
            <a:ext cx="7722973" cy="35886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D73B53-4C75-DFE2-A89C-7754068A2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0140" y="5042567"/>
            <a:ext cx="7722973" cy="1172882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0BA7CEC-BD41-7DFA-1777-C39CB63B2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666" y="436607"/>
            <a:ext cx="9477632" cy="781584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13</a:t>
            </a:r>
            <a:r>
              <a:rPr lang="en-US" sz="3200" b="1" dirty="0">
                <a:solidFill>
                  <a:schemeClr val="bg1"/>
                </a:solidFill>
                <a:effectLst/>
                <a:latin typeface="+mn-lt"/>
              </a:rPr>
              <a:t>)Model Evaluation </a:t>
            </a:r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Work flow diagram</a:t>
            </a:r>
            <a:endParaRPr lang="en-IN" sz="3200" dirty="0"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86774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F4D5C-BE9A-2162-A04C-107567A45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7357" y="267607"/>
            <a:ext cx="6098058" cy="623108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14)Experimental results (1)</a:t>
            </a:r>
            <a:endParaRPr lang="en-IN" sz="3200" dirty="0">
              <a:solidFill>
                <a:schemeClr val="bg1"/>
              </a:solidFill>
              <a:effectLst/>
              <a:latin typeface="+mn-lt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E8B8427-E591-26B0-4D34-4777822B2A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38" y="1167714"/>
            <a:ext cx="5789851" cy="445461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60721C-13D0-6A8F-A97B-E347765695D9}"/>
              </a:ext>
            </a:extLst>
          </p:cNvPr>
          <p:cNvSpPr txBox="1"/>
          <p:nvPr/>
        </p:nvSpPr>
        <p:spPr>
          <a:xfrm>
            <a:off x="-2058" y="5870950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4: Visualizing the Relationship Between Chest Pain Type and Heart Disease Level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11FEC-CB1E-2080-196F-6E62917A11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1513" y="1167714"/>
            <a:ext cx="5658044" cy="445461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036871-3048-63CB-5193-8D698CA3D235}"/>
              </a:ext>
            </a:extLst>
          </p:cNvPr>
          <p:cNvSpPr txBox="1"/>
          <p:nvPr/>
        </p:nvSpPr>
        <p:spPr>
          <a:xfrm>
            <a:off x="6096000" y="5870950"/>
            <a:ext cx="60980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5: Visualizing Chest Pain Types by Dataset Using Seaborn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490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461EC90-2E17-B9EE-BDAD-51A574CB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50" y="1387110"/>
            <a:ext cx="5910683" cy="4083780"/>
          </a:xfrm>
          <a:prstGeom prst="rect">
            <a:avLst/>
          </a:prstGeom>
        </p:spPr>
      </p:pic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73E7F25-CFBD-065A-5DB7-0E994EB476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23132" y="1387111"/>
            <a:ext cx="5511148" cy="4083779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37470A8-B314-2766-45C2-D6E599BCB8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8002" y="295834"/>
            <a:ext cx="6274851" cy="530373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bg1"/>
                </a:solidFill>
                <a:effectLst/>
                <a:latin typeface="+mn-lt"/>
              </a:rPr>
              <a:t>15)Experimental results (2)</a:t>
            </a:r>
            <a:endParaRPr lang="en-IN" sz="3200" dirty="0"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9C79493-89D5-66FF-C21B-A736CA083096}"/>
              </a:ext>
            </a:extLst>
          </p:cNvPr>
          <p:cNvSpPr txBox="1"/>
          <p:nvPr/>
        </p:nvSpPr>
        <p:spPr>
          <a:xfrm>
            <a:off x="208875" y="5656241"/>
            <a:ext cx="6098058" cy="67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7: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Plotting Age Distribution Grouped by Chest Pain Type using </a:t>
            </a:r>
            <a:r>
              <a:rPr lang="en-IN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Histogram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ED0909-31DE-CBDC-7B6A-BD3C93D12453}"/>
              </a:ext>
            </a:extLst>
          </p:cNvPr>
          <p:cNvSpPr txBox="1"/>
          <p:nvPr/>
        </p:nvSpPr>
        <p:spPr>
          <a:xfrm>
            <a:off x="6093942" y="5656241"/>
            <a:ext cx="6098058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Figure 8: </a:t>
            </a: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Comparing Gender with Heart Disease Presence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213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A8102-1D49-647E-D9CF-3A22A047F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7027" y="328079"/>
            <a:ext cx="4238368" cy="623392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16)Final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DFB33D7-ADEB-58FE-49CE-55C5D74659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449" y="1299547"/>
            <a:ext cx="965389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1)Random Forest: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83% accuracy, stable, and good for simple predictions.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2)XGB: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83% accuracy, better at complex pattern recognition.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3)Key Findings: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Blood pressure, chest pain type, and age are critical in predictions.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425A65-28E5-411D-AEF6-FB007D258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71" y="3756151"/>
            <a:ext cx="5979812" cy="25334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7F5725-00C8-22D1-3A86-3BFB6E9E6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843" y="3799247"/>
            <a:ext cx="5611486" cy="25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008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9F28-92F5-706E-37F1-56A796CFC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2922" y="247031"/>
            <a:ext cx="4028905" cy="605585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/>
          <a:lstStyle/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17</a:t>
            </a:r>
            <a:r>
              <a:rPr lang="en-IN" dirty="0">
                <a:solidFill>
                  <a:schemeClr val="bg1"/>
                </a:solidFill>
                <a:effectLst/>
              </a:rPr>
              <a:t>)Challenges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724AC01-F8BF-D22C-0B87-252D6178ED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6531" y="1220465"/>
            <a:ext cx="10791302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1)Data Imbalance: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1)More cases of no heart disease than those with heart disease. </a:t>
            </a:r>
            <a:endParaRPr lang="en-US" altLang="en-US" sz="1800" dirty="0"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2)Imagine a classroom with </a:t>
            </a:r>
            <a:r>
              <a:rPr lang="en-US" sz="1800" b="1" dirty="0"/>
              <a:t>95 healthy students</a:t>
            </a:r>
            <a:r>
              <a:rPr lang="en-US" sz="1800" dirty="0"/>
              <a:t> and </a:t>
            </a:r>
            <a:r>
              <a:rPr lang="en-US" sz="1800" b="1" dirty="0"/>
              <a:t>5 sick students</a:t>
            </a:r>
            <a:r>
              <a:rPr lang="en-US" sz="1800" dirty="0"/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3)If a model predicts that </a:t>
            </a:r>
            <a:r>
              <a:rPr lang="en-US" sz="1800" b="1" dirty="0"/>
              <a:t>everyone is healthy</a:t>
            </a:r>
            <a:r>
              <a:rPr lang="en-US" sz="1800" dirty="0"/>
              <a:t>, it will still be </a:t>
            </a:r>
            <a:r>
              <a:rPr lang="en-US" sz="1800" b="1" dirty="0"/>
              <a:t>95% accurate</a:t>
            </a:r>
            <a:r>
              <a:rPr lang="en-US" sz="1800" dirty="0"/>
              <a:t>, but it completely missed the 5 sick students.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4)This happens when one group (like "no heart disease" cases) is much larger than the other (like "heart disease" cases).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2)Model Interpretability: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highlight>
                  <a:srgbClr val="00FFFF"/>
                </a:highlight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1)Understanding how the model makes decisions is difficult.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2)Some models, like </a:t>
            </a:r>
            <a:r>
              <a:rPr lang="en-US" sz="1800" b="1" dirty="0"/>
              <a:t>Random Forest</a:t>
            </a:r>
            <a:r>
              <a:rPr lang="en-US" sz="1800" dirty="0"/>
              <a:t> or </a:t>
            </a:r>
            <a:r>
              <a:rPr lang="en-US" sz="1800" b="1" dirty="0" err="1"/>
              <a:t>XGBoost</a:t>
            </a:r>
            <a:r>
              <a:rPr lang="en-US" sz="1800" dirty="0"/>
              <a:t>, are like "black boxes."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3)This means they predict well but don’t clearly explain </a:t>
            </a:r>
            <a:r>
              <a:rPr lang="en-US" sz="1800" i="1" dirty="0"/>
              <a:t>why</a:t>
            </a:r>
            <a:r>
              <a:rPr lang="en-US" sz="1800" dirty="0"/>
              <a:t> they made a certain prediction.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1800" dirty="0"/>
              <a:t>4)For example, if the model says </a:t>
            </a:r>
            <a:r>
              <a:rPr lang="en-US" sz="1800" b="1" dirty="0"/>
              <a:t>"This person has heart disease"</a:t>
            </a:r>
            <a:r>
              <a:rPr lang="en-US" sz="1800" dirty="0"/>
              <a:t>, it's hard to understand which factors (like age, blood pressure, etc.) influenced that decision.</a:t>
            </a:r>
          </a:p>
        </p:txBody>
      </p:sp>
    </p:spTree>
    <p:extLst>
      <p:ext uri="{BB962C8B-B14F-4D97-AF65-F5344CB8AC3E}">
        <p14:creationId xmlns:p14="http://schemas.microsoft.com/office/powerpoint/2010/main" val="3413098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D11E8-CCCE-54A9-58D7-A9B32BB48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1611" y="259493"/>
            <a:ext cx="4062573" cy="691977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IN" sz="3200" dirty="0">
                <a:solidFill>
                  <a:schemeClr val="bg1"/>
                </a:solidFill>
                <a:effectLst/>
                <a:latin typeface="+mn-lt"/>
              </a:rPr>
              <a:t>18)Future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1257C-5F80-230B-D336-278ABDE80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9119" y="1210961"/>
            <a:ext cx="10353762" cy="521455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1)We can try more models like Logistic Regression, SVM, or Deep Learning.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2)Combining models using Voting or Stacking can give better results.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3)Adding more patient data will improve accuracy.</a:t>
            </a:r>
          </a:p>
          <a:p>
            <a:pPr marL="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4)We can build a web or mobile app for real-time heart risk check. 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5)The system can connect with hospitals to give live predictions.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6)We can use Explainable AI to show why a result was given.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CBAAD669-4D20-F017-504A-77D7EE187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can connect with hospitals to give live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899DE8D-5CDB-79E3-C575-CD2E91F1C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8767" y="1736126"/>
            <a:ext cx="4127157" cy="3385748"/>
          </a:xfrm>
          <a:prstGeom prst="rect">
            <a:avLst/>
          </a:prstGeom>
        </p:spPr>
      </p:pic>
      <p:pic>
        <p:nvPicPr>
          <p:cNvPr id="6163" name="Picture 19">
            <a:extLst>
              <a:ext uri="{FF2B5EF4-FFF2-40B4-BE49-F238E27FC236}">
                <a16:creationId xmlns:a16="http://schemas.microsoft.com/office/drawing/2014/main" id="{E5ED5018-19C8-1294-A35A-475B3B6093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335" y="4139512"/>
            <a:ext cx="3674851" cy="228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46155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B894-93B3-2740-731D-EBBC09771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846" y="358345"/>
            <a:ext cx="3791338" cy="580769"/>
          </a:xfrm>
          <a:solidFill>
            <a:srgbClr val="00B050"/>
          </a:solidFill>
          <a:ln w="38100">
            <a:solidFill>
              <a:srgbClr val="FFFF00"/>
            </a:solidFill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rmAutofit/>
          </a:bodyPr>
          <a:lstStyle/>
          <a:p>
            <a:pPr algn="l"/>
            <a:r>
              <a:rPr lang="en-IN" sz="3200" b="1" dirty="0">
                <a:solidFill>
                  <a:schemeClr val="bg1"/>
                </a:solidFill>
                <a:effectLst/>
                <a:latin typeface="+mn-lt"/>
              </a:rPr>
              <a:t>19)Conclusion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68B853D-2E4B-1B18-FA87-3330D7464D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1745" y="1334986"/>
            <a:ext cx="10369378" cy="3435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1)We used two machine learning models — Random Forest and XGB Classifier — to predict heart disease.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2)Both models gave good results, but XGB was a little better in accuracy.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3)Chest pain type, age, and blood pressure were the most important health factors.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4)These models help doctors find heart problems early and make better decisions.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5)Random Forest is simple and stable, while XGB gives more accurate results.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IN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6)This system can save lives by giving faster and smarter heart disease predictions.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B44D7BE1-87A8-EA02-E2FB-0A24ED9C3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1972" y="4386192"/>
            <a:ext cx="5128055" cy="2273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49908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78346F"/>
      </a:dk2>
      <a:lt2>
        <a:srgbClr val="D9A8D2"/>
      </a:lt2>
      <a:accent1>
        <a:srgbClr val="CE57AB"/>
      </a:accent1>
      <a:accent2>
        <a:srgbClr val="8E8EFD"/>
      </a:accent2>
      <a:accent3>
        <a:srgbClr val="7CBCE0"/>
      </a:accent3>
      <a:accent4>
        <a:srgbClr val="70BF9F"/>
      </a:accent4>
      <a:accent5>
        <a:srgbClr val="A5B960"/>
      </a:accent5>
      <a:accent6>
        <a:srgbClr val="D47A57"/>
      </a:accent6>
      <a:hlink>
        <a:srgbClr val="D164DE"/>
      </a:hlink>
      <a:folHlink>
        <a:srgbClr val="BE87C4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D4FE1632-F131-47D3-A814-99E9CD025E2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451</TotalTime>
  <Words>1841</Words>
  <Application>Microsoft Office PowerPoint</Application>
  <PresentationFormat>Widescreen</PresentationFormat>
  <Paragraphs>160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Bookman Old Style</vt:lpstr>
      <vt:lpstr>Calibri</vt:lpstr>
      <vt:lpstr>Rockwell</vt:lpstr>
      <vt:lpstr>Damask</vt:lpstr>
      <vt:lpstr>     Omkar Rajendra Patil 232010045</vt:lpstr>
      <vt:lpstr>(1)Introduction</vt:lpstr>
      <vt:lpstr>2)Problem Statement</vt:lpstr>
      <vt:lpstr>(3)Overview of Heart Disease</vt:lpstr>
      <vt:lpstr>(4)Cleveland Heart Disease Dataset</vt:lpstr>
      <vt:lpstr>5)Why Preprocess the Data</vt:lpstr>
      <vt:lpstr> 6)Data Preprocessing </vt:lpstr>
      <vt:lpstr> 7)Data Preprocessing Work flow diagram </vt:lpstr>
      <vt:lpstr>PowerPoint Presentation</vt:lpstr>
      <vt:lpstr>(9)Model Selection and Training(2)</vt:lpstr>
      <vt:lpstr>(10)Model Selection and Training Work flow diagram</vt:lpstr>
      <vt:lpstr>11)Model Evaluation(1)</vt:lpstr>
      <vt:lpstr>12)Model Evaluation(2)</vt:lpstr>
      <vt:lpstr>13)Model Evaluation Work flow diagram</vt:lpstr>
      <vt:lpstr>14)Experimental results (1)</vt:lpstr>
      <vt:lpstr>15)Experimental results (2)</vt:lpstr>
      <vt:lpstr>16)Final Results</vt:lpstr>
      <vt:lpstr>17)Challenges</vt:lpstr>
      <vt:lpstr>18)Future Scope</vt:lpstr>
      <vt:lpstr>19)Conclusion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OMKAR PATIL</dc:creator>
  <cp:lastModifiedBy>OMKAR PATIL</cp:lastModifiedBy>
  <cp:revision>9</cp:revision>
  <dcterms:created xsi:type="dcterms:W3CDTF">2025-03-14T06:44:44Z</dcterms:created>
  <dcterms:modified xsi:type="dcterms:W3CDTF">2025-07-11T13:32:28Z</dcterms:modified>
</cp:coreProperties>
</file>